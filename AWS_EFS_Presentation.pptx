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7" r:id="rId2"/>
    <p:sldId id="256" r:id="rId3"/>
    <p:sldId id="258" r:id="rId4"/>
    <p:sldId id="260" r:id="rId5"/>
    <p:sldId id="261" r:id="rId6"/>
    <p:sldId id="262" r:id="rId7"/>
    <p:sldId id="263" r:id="rId8"/>
    <p:sldId id="264" r:id="rId9"/>
    <p:sldId id="268" r:id="rId10"/>
    <p:sldId id="269" r:id="rId11"/>
    <p:sldId id="267" r:id="rId12"/>
    <p:sldId id="270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1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0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15:36:22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0 24575,'-1'4'0,"-1"0"0,1 0 0,-1 0 0,0 0 0,0-1 0,-1 1 0,1-1 0,-1 1 0,1-1 0,-1 0 0,0 0 0,-1 0 0,1-1 0,-5 4 0,-10 11 0,-163 181 0,168-183-1365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15:36:24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24575,'28'24'0,"1"-1"0,1-1 0,60 32 0,-38-23 0,-18-13 0,-23-13 0,0 1 0,0 0 0,11 9 0,-18-11-78,10 7-351,0 1 0,22 24 0</inkml:trace>
</inkml:ink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17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45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173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767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975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00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70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233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30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34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1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138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customXml" Target="../ink/ink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AWS Elastic File System(EFS)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30477"/>
            <a:ext cx="7704667" cy="4289003"/>
          </a:xfrm>
        </p:spPr>
        <p:txBody>
          <a:bodyPr>
            <a:normAutofit/>
          </a:bodyPr>
          <a:lstStyle/>
          <a:p>
            <a:r>
              <a:rPr lang="en-US" sz="3200" dirty="0"/>
              <a:t>AWS offers a wide range of storage services </a:t>
            </a:r>
          </a:p>
          <a:p>
            <a:r>
              <a:rPr lang="en-US" sz="3200" dirty="0"/>
              <a:t>Storage can be selected based on project requirements and use cases </a:t>
            </a:r>
          </a:p>
          <a:p>
            <a:r>
              <a:rPr lang="en-US" sz="3200" dirty="0"/>
              <a:t>AWS provides solutions for: </a:t>
            </a:r>
          </a:p>
          <a:p>
            <a:pPr lvl="1"/>
            <a:r>
              <a:rPr lang="en-US" sz="2800" dirty="0"/>
              <a:t>Highly confidential data </a:t>
            </a:r>
          </a:p>
          <a:p>
            <a:pPr lvl="1"/>
            <a:r>
              <a:rPr lang="en-US" sz="2800" dirty="0"/>
              <a:t>Frequently accessed data </a:t>
            </a:r>
          </a:p>
          <a:p>
            <a:pPr lvl="1"/>
            <a:r>
              <a:rPr lang="en-US" sz="2800" dirty="0"/>
              <a:t>Infrequently accessed data 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430593"/>
          </a:xfrm>
        </p:spPr>
        <p:txBody>
          <a:bodyPr/>
          <a:lstStyle/>
          <a:p>
            <a:r>
              <a:rPr lang="en-IN" dirty="0">
                <a:highlight>
                  <a:srgbClr val="C0C0C0"/>
                </a:highlight>
              </a:rPr>
              <a:t>What is AWS EFS?</a:t>
            </a:r>
            <a:endParaRPr dirty="0">
              <a:solidFill>
                <a:schemeClr val="accent6"/>
              </a:solidFill>
              <a:highlight>
                <a:srgbClr val="C0C0C0"/>
              </a:highlight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E73522-0E75-551F-91C7-65545378F5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47190"/>
            <a:ext cx="8509819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EFS belongs to the file storage category in cloud storage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It is a file-level storage service provided by Amazon Web Services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EFS is a fully managed service, so no need to manage infrastructure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It can be accessed by multiple EC2 instances simultaneously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Works using the Network File System (NFS) protocol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Designed for high throughput and low latency applications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Similar to Amazon EBS, but EFS supports shared access across servers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92D050"/>
                </a:solidFill>
              </a:rPr>
              <a:t>Key Features</a:t>
            </a:r>
            <a:r>
              <a:rPr lang="en-US" dirty="0">
                <a:solidFill>
                  <a:srgbClr val="92D050"/>
                </a:solidFill>
              </a:rPr>
              <a:t> of EFS</a:t>
            </a:r>
            <a:endParaRPr dirty="0">
              <a:solidFill>
                <a:srgbClr val="92D05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108B180-BAD7-0DCB-65F2-1B4D4C75DD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133" y="1840418"/>
            <a:ext cx="7237635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Fully managed service by Amazon Web Services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Elastic scalability – automatically grows and shrinks as needed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Shared file access – multiple Amazon EC2 instances can access simultaneously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High availability – data stored across multiple Availability Zones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High durability – designed for long-term data reliability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Uses NFS protocol – easy integration with Linux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High performance – supports low latency and high throughput workloads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Security features – supports encryption and access control via security groups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Pay-as-you-go pricing – no upfront cost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Automatic backups with AWS Backup support 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811160"/>
          </a:xfrm>
        </p:spPr>
        <p:txBody>
          <a:bodyPr/>
          <a:lstStyle/>
          <a:p>
            <a:r>
              <a:rPr dirty="0">
                <a:solidFill>
                  <a:schemeClr val="accent6"/>
                </a:solidFill>
              </a:rPr>
              <a:t>How EFS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120877"/>
            <a:ext cx="7704667" cy="487893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EFS Creation &amp; Setup</a:t>
            </a:r>
          </a:p>
          <a:p>
            <a:r>
              <a:rPr lang="en-US" dirty="0">
                <a:solidFill>
                  <a:srgbClr val="00B0F0"/>
                </a:solidFill>
              </a:rPr>
              <a:t>Amazon EFS is created within a specific region in Amazon Web Services </a:t>
            </a:r>
          </a:p>
          <a:p>
            <a:r>
              <a:rPr lang="en-US" dirty="0">
                <a:solidFill>
                  <a:srgbClr val="00B0F0"/>
                </a:solidFill>
              </a:rPr>
              <a:t>It is automatically distributed across multiple Availability Zones </a:t>
            </a:r>
          </a:p>
          <a:p>
            <a:r>
              <a:rPr lang="en-US" dirty="0">
                <a:solidFill>
                  <a:srgbClr val="00B0F0"/>
                </a:solidFill>
              </a:rPr>
              <a:t>This ensures high availability and durability </a:t>
            </a:r>
          </a:p>
          <a:p>
            <a:r>
              <a:rPr lang="en-US" dirty="0">
                <a:solidFill>
                  <a:srgbClr val="00B0F0"/>
                </a:solidFill>
              </a:rPr>
              <a:t>You can choose performance based on I/O operations (IOPS) requirements </a:t>
            </a:r>
          </a:p>
          <a:p>
            <a:r>
              <a:rPr lang="en-US" dirty="0">
                <a:solidFill>
                  <a:srgbClr val="00B0F0"/>
                </a:solidFill>
              </a:rPr>
              <a:t>Mount Targets &amp; Connectivity</a:t>
            </a:r>
          </a:p>
          <a:p>
            <a:r>
              <a:rPr lang="en-US" dirty="0">
                <a:solidFill>
                  <a:srgbClr val="00B0F0"/>
                </a:solidFill>
              </a:rPr>
              <a:t>After creating EFS, you must configure mount targets </a:t>
            </a:r>
          </a:p>
          <a:p>
            <a:r>
              <a:rPr lang="en-US" dirty="0">
                <a:solidFill>
                  <a:srgbClr val="00B0F0"/>
                </a:solidFill>
              </a:rPr>
              <a:t>Mount targets enable network connectivity to the EFS file system </a:t>
            </a:r>
          </a:p>
          <a:p>
            <a:r>
              <a:rPr lang="en-US" dirty="0">
                <a:solidFill>
                  <a:srgbClr val="00B0F0"/>
                </a:solidFill>
              </a:rPr>
              <a:t>They are created inside subnets within a VPC </a:t>
            </a:r>
          </a:p>
          <a:p>
            <a:r>
              <a:rPr lang="en-US" dirty="0">
                <a:solidFill>
                  <a:srgbClr val="00B0F0"/>
                </a:solidFill>
              </a:rPr>
              <a:t>Services That Can Use EFS</a:t>
            </a:r>
          </a:p>
          <a:p>
            <a:r>
              <a:rPr lang="en-US" dirty="0">
                <a:solidFill>
                  <a:srgbClr val="00B0F0"/>
                </a:solidFill>
              </a:rPr>
              <a:t>EFS can be mounted or used with:</a:t>
            </a:r>
          </a:p>
          <a:p>
            <a:r>
              <a:rPr lang="en-US" dirty="0">
                <a:solidFill>
                  <a:srgbClr val="00B0F0"/>
                </a:solidFill>
              </a:rPr>
              <a:t>Amazon EC2 – for shared file storage across instances </a:t>
            </a:r>
          </a:p>
          <a:p>
            <a:r>
              <a:rPr lang="en-US" dirty="0">
                <a:solidFill>
                  <a:srgbClr val="00B0F0"/>
                </a:solidFill>
              </a:rPr>
              <a:t>Amazon EKS – for container-based applications </a:t>
            </a:r>
          </a:p>
          <a:p>
            <a:r>
              <a:rPr lang="en-US" dirty="0">
                <a:solidFill>
                  <a:srgbClr val="00B0F0"/>
                </a:solidFill>
              </a:rPr>
              <a:t>AWS Lambda – for serverless file access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27470"/>
          </a:xfrm>
        </p:spPr>
        <p:txBody>
          <a:bodyPr>
            <a:normAutofit/>
          </a:bodyPr>
          <a:lstStyle/>
          <a:p>
            <a:r>
              <a:rPr sz="4400" dirty="0">
                <a:solidFill>
                  <a:srgbClr val="7030A0"/>
                </a:solidFill>
              </a:rPr>
              <a:t>Use Cases</a:t>
            </a:r>
            <a:r>
              <a:rPr lang="en-US" sz="4400" dirty="0">
                <a:solidFill>
                  <a:srgbClr val="7030A0"/>
                </a:solidFill>
              </a:rPr>
              <a:t> of EFS</a:t>
            </a:r>
            <a:endParaRPr sz="44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7253" y="1366684"/>
            <a:ext cx="7590502" cy="463313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  Secure File Sharing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Files can be shared safely between multiple systems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Ensures </a:t>
            </a:r>
            <a:r>
              <a:rPr lang="en-US" b="1" dirty="0">
                <a:solidFill>
                  <a:schemeClr val="accent1"/>
                </a:solidFill>
              </a:rPr>
              <a:t>data consistency</a:t>
            </a:r>
            <a:r>
              <a:rPr lang="en-US" dirty="0">
                <a:solidFill>
                  <a:schemeClr val="accent1"/>
                </a:solidFill>
              </a:rPr>
              <a:t> and easy access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   Web Hosting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Multiple Amazon EC2 servers can use the same files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EFS automatically </a:t>
            </a:r>
            <a:r>
              <a:rPr lang="en-US" b="1" dirty="0">
                <a:solidFill>
                  <a:schemeClr val="accent1"/>
                </a:solidFill>
              </a:rPr>
              <a:t>scales when traffic increases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</a:rPr>
              <a:t>Modern Applications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Works with services like Amazon EKS, Amazon ECS, and AWS Lambda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Helps share data easily without much management </a:t>
            </a:r>
          </a:p>
          <a:p>
            <a:pPr marL="0" indent="0">
              <a:buNone/>
            </a:pPr>
            <a:br>
              <a:rPr lang="en-US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</a:rPr>
              <a:t>Machine Learning &amp; AI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Stores large datasets for AI/ML applications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Multiple systems can </a:t>
            </a:r>
            <a:r>
              <a:rPr lang="en-US" b="1" dirty="0">
                <a:solidFill>
                  <a:schemeClr val="accent1"/>
                </a:solidFill>
              </a:rPr>
              <a:t>access same data at once</a:t>
            </a:r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Reduces duplicate data and improves teamwork </a:t>
            </a:r>
          </a:p>
          <a:p>
            <a:endParaRPr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45457"/>
          </a:xfrm>
        </p:spPr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Advantages</a:t>
            </a:r>
            <a:r>
              <a:rPr lang="en-US" dirty="0">
                <a:solidFill>
                  <a:schemeClr val="accent2"/>
                </a:solidFill>
              </a:rPr>
              <a:t> of EFS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427" y="1877961"/>
            <a:ext cx="7704667" cy="37067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Easy to use</a:t>
            </a:r>
            <a:endParaRPr lang="en-US" sz="28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Automatically scalable</a:t>
            </a:r>
            <a:endParaRPr lang="en-US" sz="28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Highly available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Reliable (durable)</a:t>
            </a:r>
            <a:endParaRPr lang="en-US" sz="28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No capacity planning</a:t>
            </a:r>
            <a:endParaRPr lang="en-US" sz="28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Pay only for what you use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</a:p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Secure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Good performance</a:t>
            </a:r>
            <a:endParaRPr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Disadvantages</a:t>
            </a:r>
            <a:r>
              <a:rPr lang="en-US" dirty="0">
                <a:solidFill>
                  <a:srgbClr val="FF0000"/>
                </a:solidFill>
              </a:rPr>
              <a:t> of EFS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424E0C-93B1-0BAC-BD5F-8ED91B615C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133" y="2625248"/>
            <a:ext cx="716880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Higher cost compared to Amazon EBS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Requires network connection (cannot use without internet/VPC)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Latency is higher than local storage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Not suitable for small or low-performance applications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Limited support mainly for Linux systems (NFS-based)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Performance depends on network speed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Managed by Amazon Web Services with built-in security </a:t>
            </a:r>
          </a:p>
          <a:p>
            <a:r>
              <a:rPr lang="en-US" dirty="0">
                <a:solidFill>
                  <a:srgbClr val="FFC000"/>
                </a:solidFill>
              </a:rPr>
              <a:t>Encryption at rest – data is stored securely </a:t>
            </a:r>
          </a:p>
          <a:p>
            <a:r>
              <a:rPr lang="en-US" dirty="0">
                <a:solidFill>
                  <a:srgbClr val="FFC000"/>
                </a:solidFill>
              </a:rPr>
              <a:t>Encryption in transit – data is protected while transferring </a:t>
            </a:r>
          </a:p>
          <a:p>
            <a:r>
              <a:rPr lang="en-US" dirty="0">
                <a:solidFill>
                  <a:srgbClr val="FFC000"/>
                </a:solidFill>
              </a:rPr>
              <a:t>Access control using Security Groups – only allowed systems can connect </a:t>
            </a:r>
          </a:p>
          <a:p>
            <a:r>
              <a:rPr lang="en-US" dirty="0">
                <a:solidFill>
                  <a:srgbClr val="FFC000"/>
                </a:solidFill>
              </a:rPr>
              <a:t>Works with AWS IAM for permissions </a:t>
            </a:r>
          </a:p>
          <a:p>
            <a:r>
              <a:rPr lang="en-US" dirty="0">
                <a:solidFill>
                  <a:srgbClr val="FFC000"/>
                </a:solidFill>
              </a:rPr>
              <a:t>Supports VPC isolation – keeps data within private network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C2D0-2B70-CD27-801E-5ABDF07C0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353960"/>
            <a:ext cx="7704667" cy="564585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>
              <a:latin typeface="Algerian" panose="04020705040A02060702" pitchFamily="82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Algerian" panose="04020705040A02060702" pitchFamily="82" charset="0"/>
              </a:rPr>
              <a:t>Create 2 Security Group</a:t>
            </a:r>
            <a:br>
              <a:rPr lang="en-IN" dirty="0"/>
            </a:br>
            <a:r>
              <a:rPr lang="en-IN" dirty="0"/>
              <a:t>        sg for EFS</a:t>
            </a:r>
            <a:br>
              <a:rPr lang="en-IN" dirty="0"/>
            </a:br>
            <a:r>
              <a:rPr lang="en-IN" dirty="0">
                <a:solidFill>
                  <a:schemeClr val="accent2"/>
                </a:solidFill>
              </a:rPr>
              <a:t>Go to EC2 Dashboard</a:t>
            </a:r>
            <a:br>
              <a:rPr lang="en-IN" dirty="0">
                <a:solidFill>
                  <a:schemeClr val="accent2"/>
                </a:solidFill>
              </a:rPr>
            </a:br>
            <a:r>
              <a:rPr lang="en-IN" dirty="0">
                <a:solidFill>
                  <a:schemeClr val="accent2"/>
                </a:solidFill>
              </a:rPr>
              <a:t>                     ↓</a:t>
            </a:r>
            <a:br>
              <a:rPr lang="en-IN" dirty="0">
                <a:solidFill>
                  <a:schemeClr val="accent2"/>
                </a:solidFill>
              </a:rPr>
            </a:br>
            <a:r>
              <a:rPr lang="en-IN" dirty="0">
                <a:solidFill>
                  <a:schemeClr val="accent2"/>
                </a:solidFill>
              </a:rPr>
              <a:t>Click "Security Groups"</a:t>
            </a:r>
            <a:br>
              <a:rPr lang="en-IN" dirty="0">
                <a:solidFill>
                  <a:schemeClr val="accent2"/>
                </a:solidFill>
              </a:rPr>
            </a:br>
            <a:r>
              <a:rPr lang="en-IN" dirty="0">
                <a:solidFill>
                  <a:schemeClr val="accent2"/>
                </a:solidFill>
              </a:rPr>
              <a:t>                     ↓</a:t>
            </a:r>
            <a:br>
              <a:rPr lang="en-IN" dirty="0">
                <a:solidFill>
                  <a:schemeClr val="accent2"/>
                </a:solidFill>
              </a:rPr>
            </a:br>
            <a:r>
              <a:rPr lang="en-IN" dirty="0">
                <a:solidFill>
                  <a:schemeClr val="accent2"/>
                </a:solidFill>
              </a:rPr>
              <a:t>Click "Create Security Group"</a:t>
            </a:r>
            <a:br>
              <a:rPr lang="en-IN" dirty="0">
                <a:solidFill>
                  <a:schemeClr val="accent2"/>
                </a:solidFill>
              </a:rPr>
            </a:br>
            <a:r>
              <a:rPr lang="en-IN" dirty="0">
                <a:solidFill>
                  <a:schemeClr val="accent2"/>
                </a:solidFill>
              </a:rPr>
              <a:t>                     ↓</a:t>
            </a:r>
            <a:br>
              <a:rPr lang="en-IN" dirty="0">
                <a:solidFill>
                  <a:schemeClr val="accent2"/>
                </a:solidFill>
              </a:rPr>
            </a:br>
            <a:r>
              <a:rPr lang="en-IN" dirty="0">
                <a:solidFill>
                  <a:schemeClr val="accent2"/>
                </a:solidFill>
              </a:rPr>
              <a:t>Enter Name(EFS-SG) &amp; Description</a:t>
            </a:r>
            <a:br>
              <a:rPr lang="en-IN" dirty="0">
                <a:solidFill>
                  <a:schemeClr val="accent2"/>
                </a:solidFill>
              </a:rPr>
            </a:br>
            <a:r>
              <a:rPr lang="en-IN" dirty="0">
                <a:solidFill>
                  <a:schemeClr val="accent2"/>
                </a:solidFill>
              </a:rPr>
              <a:t>          (allow </a:t>
            </a:r>
            <a:r>
              <a:rPr lang="en-IN" dirty="0" err="1">
                <a:solidFill>
                  <a:schemeClr val="accent2"/>
                </a:solidFill>
              </a:rPr>
              <a:t>esf</a:t>
            </a:r>
            <a:r>
              <a:rPr lang="en-IN" dirty="0">
                <a:solidFill>
                  <a:schemeClr val="accent2"/>
                </a:solidFill>
              </a:rPr>
              <a:t> storage access)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</a:rPr>
              <a:t>                            ↓</a:t>
            </a:r>
            <a:br>
              <a:rPr lang="en-IN" dirty="0">
                <a:solidFill>
                  <a:schemeClr val="accent2"/>
                </a:solidFill>
              </a:rPr>
            </a:br>
            <a:r>
              <a:rPr lang="en-IN" dirty="0">
                <a:solidFill>
                  <a:schemeClr val="accent2"/>
                </a:solidFill>
              </a:rPr>
              <a:t>Add Inbound Rules (all traffic)</a:t>
            </a:r>
            <a:br>
              <a:rPr lang="en-IN" dirty="0">
                <a:solidFill>
                  <a:schemeClr val="accent2"/>
                </a:solidFill>
              </a:rPr>
            </a:br>
            <a:r>
              <a:rPr lang="en-IN" dirty="0">
                <a:solidFill>
                  <a:schemeClr val="accent2"/>
                </a:solidFill>
              </a:rPr>
              <a:t>                            ↓</a:t>
            </a:r>
            <a:br>
              <a:rPr lang="en-IN" dirty="0">
                <a:solidFill>
                  <a:schemeClr val="accent2"/>
                </a:solidFill>
              </a:rPr>
            </a:br>
            <a:r>
              <a:rPr lang="en-IN" dirty="0">
                <a:solidFill>
                  <a:schemeClr val="accent2"/>
                </a:solidFill>
              </a:rPr>
              <a:t>Click "Create Security Group"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A8F7C9-107F-3179-9B30-09B9CC158A5C}"/>
              </a:ext>
            </a:extLst>
          </p:cNvPr>
          <p:cNvSpPr/>
          <p:nvPr/>
        </p:nvSpPr>
        <p:spPr>
          <a:xfrm>
            <a:off x="4768646" y="1347019"/>
            <a:ext cx="3716594" cy="44294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Sg for NFS</a:t>
            </a:r>
            <a:br>
              <a:rPr lang="en-IN" dirty="0"/>
            </a:b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Go to EC2 Dashboard</a:t>
            </a:r>
            <a:br>
              <a:rPr lang="en-IN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↓</a:t>
            </a:r>
            <a:br>
              <a:rPr lang="en-IN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Click "Security Groups"</a:t>
            </a:r>
            <a:br>
              <a:rPr lang="en-IN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↓</a:t>
            </a:r>
            <a:br>
              <a:rPr lang="en-IN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Click "Create Security Group"</a:t>
            </a:r>
            <a:br>
              <a:rPr lang="en-IN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↓</a:t>
            </a:r>
            <a:br>
              <a:rPr lang="en-IN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Enter Name (NFS-SG)&amp; Description</a:t>
            </a: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(share file storage via n/w)</a:t>
            </a:r>
            <a:br>
              <a:rPr lang="en-IN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↓</a:t>
            </a:r>
            <a:br>
              <a:rPr lang="en-IN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Add Inbound Rules (NFS)</a:t>
            </a:r>
            <a:br>
              <a:rPr lang="en-IN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↓</a:t>
            </a:r>
            <a:br>
              <a:rPr lang="en-IN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Click "Create Security Group"</a:t>
            </a:r>
          </a:p>
        </p:txBody>
      </p:sp>
    </p:spTree>
    <p:extLst>
      <p:ext uri="{BB962C8B-B14F-4D97-AF65-F5344CB8AC3E}">
        <p14:creationId xmlns:p14="http://schemas.microsoft.com/office/powerpoint/2010/main" val="1814593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6A9A0-6433-5625-E7DD-17D3C94DF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37652"/>
            <a:ext cx="7704667" cy="5862164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IN" sz="2500" b="1" i="1" u="sng" dirty="0">
                <a:solidFill>
                  <a:schemeClr val="accent4"/>
                </a:solidFill>
              </a:rPr>
              <a:t>HOW TO CREATE 02 INSTANCES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Login to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aws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console 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↓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Go to EC2 Dashboard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↓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Click "Launch Instance"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↓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Choose AMI (Operating System)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↓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Choose Instance Type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↓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create a new keypair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Under network (select different availability zone)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↓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Configure Security Group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↓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→  Select Existing Security Group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(select the created security group EFS-SG)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↓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under user data add this script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(#!/bin/bash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                    yum install httpd -y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                  service httpd start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                                             yum install -y amazon-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efs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-utils)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↓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Launch Instance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↓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Instance Running (with Security Group attached</a:t>
            </a:r>
            <a:r>
              <a:rPr lang="en-IN" dirty="0"/>
              <a:t>)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same way create one more instance</a:t>
            </a:r>
          </a:p>
        </p:txBody>
      </p:sp>
    </p:spTree>
    <p:extLst>
      <p:ext uri="{BB962C8B-B14F-4D97-AF65-F5344CB8AC3E}">
        <p14:creationId xmlns:p14="http://schemas.microsoft.com/office/powerpoint/2010/main" val="3126614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53AD0-B583-6183-B6CA-ACE724A52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108154"/>
            <a:ext cx="7704667" cy="26547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4"/>
                </a:solidFill>
              </a:rPr>
              <a:t>How to perform </a:t>
            </a:r>
            <a:r>
              <a:rPr lang="en-US" dirty="0" err="1">
                <a:solidFill>
                  <a:schemeClr val="accent4"/>
                </a:solidFill>
              </a:rPr>
              <a:t>efs</a:t>
            </a:r>
            <a:endParaRPr lang="en-IN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B3630-8237-B738-E6EF-913369C39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481782"/>
            <a:ext cx="7704667" cy="5518036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br>
              <a:rPr lang="en-IN" sz="1400" dirty="0">
                <a:solidFill>
                  <a:srgbClr val="00B050"/>
                </a:solidFill>
              </a:rPr>
            </a:br>
            <a:r>
              <a:rPr lang="en-IN" sz="1400" dirty="0">
                <a:solidFill>
                  <a:srgbClr val="00B050"/>
                </a:solidFill>
              </a:rPr>
              <a:t>Search for EFS service</a:t>
            </a:r>
            <a:br>
              <a:rPr lang="en-IN" sz="1400" dirty="0">
                <a:solidFill>
                  <a:srgbClr val="00B050"/>
                </a:solidFill>
              </a:rPr>
            </a:br>
            <a:r>
              <a:rPr lang="en-IN" sz="1400" dirty="0">
                <a:solidFill>
                  <a:srgbClr val="00B050"/>
                </a:solidFill>
              </a:rPr>
              <a:t>↓</a:t>
            </a:r>
            <a:br>
              <a:rPr lang="en-IN" sz="1400" dirty="0">
                <a:solidFill>
                  <a:srgbClr val="00B050"/>
                </a:solidFill>
              </a:rPr>
            </a:br>
            <a:r>
              <a:rPr lang="en-IN" sz="1400" dirty="0">
                <a:solidFill>
                  <a:srgbClr val="00B050"/>
                </a:solidFill>
              </a:rPr>
              <a:t>Open EFS Dashboard</a:t>
            </a:r>
            <a:br>
              <a:rPr lang="en-IN" sz="1400" dirty="0">
                <a:solidFill>
                  <a:srgbClr val="00B050"/>
                </a:solidFill>
              </a:rPr>
            </a:br>
            <a:r>
              <a:rPr lang="en-IN" sz="1400" dirty="0">
                <a:solidFill>
                  <a:srgbClr val="00B050"/>
                </a:solidFill>
              </a:rPr>
              <a:t>↓</a:t>
            </a:r>
            <a:br>
              <a:rPr lang="en-IN" sz="1400" dirty="0">
                <a:solidFill>
                  <a:srgbClr val="00B050"/>
                </a:solidFill>
              </a:rPr>
            </a:br>
            <a:r>
              <a:rPr lang="en-IN" sz="1400" dirty="0">
                <a:solidFill>
                  <a:srgbClr val="00B050"/>
                </a:solidFill>
              </a:rPr>
              <a:t>Click "Create File System"</a:t>
            </a:r>
            <a:br>
              <a:rPr lang="en-IN" sz="1400" dirty="0">
                <a:solidFill>
                  <a:srgbClr val="00B050"/>
                </a:solidFill>
              </a:rPr>
            </a:br>
            <a:r>
              <a:rPr lang="en-IN" sz="1400" dirty="0">
                <a:solidFill>
                  <a:srgbClr val="00B050"/>
                </a:solidFill>
              </a:rPr>
              <a:t>↓</a:t>
            </a:r>
            <a:br>
              <a:rPr lang="en-IN" sz="1400" dirty="0">
                <a:solidFill>
                  <a:srgbClr val="00B050"/>
                </a:solidFill>
              </a:rPr>
            </a:br>
            <a:r>
              <a:rPr lang="en-IN" sz="1400" dirty="0">
                <a:solidFill>
                  <a:srgbClr val="00B050"/>
                </a:solidFill>
              </a:rPr>
              <a:t>Select VPC &amp; Region</a:t>
            </a:r>
            <a:br>
              <a:rPr lang="en-IN" sz="1400" dirty="0">
                <a:solidFill>
                  <a:srgbClr val="00B050"/>
                </a:solidFill>
              </a:rPr>
            </a:br>
            <a:r>
              <a:rPr lang="en-IN" sz="1400" dirty="0">
                <a:solidFill>
                  <a:srgbClr val="00B050"/>
                </a:solidFill>
              </a:rPr>
              <a:t>↓</a:t>
            </a:r>
            <a:br>
              <a:rPr lang="en-IN" sz="1400" dirty="0">
                <a:solidFill>
                  <a:srgbClr val="00B050"/>
                </a:solidFill>
              </a:rPr>
            </a:br>
            <a:r>
              <a:rPr lang="en-IN" sz="1400" dirty="0">
                <a:solidFill>
                  <a:srgbClr val="00B050"/>
                </a:solidFill>
              </a:rPr>
              <a:t>Configure Settings (Performance, Storage)</a:t>
            </a:r>
            <a:br>
              <a:rPr lang="en-IN" sz="1400" dirty="0">
                <a:solidFill>
                  <a:srgbClr val="00B050"/>
                </a:solidFill>
              </a:rPr>
            </a:br>
            <a:r>
              <a:rPr lang="en-IN" sz="1400" dirty="0">
                <a:solidFill>
                  <a:srgbClr val="00B050"/>
                </a:solidFill>
              </a:rPr>
              <a:t>↓</a:t>
            </a:r>
            <a:br>
              <a:rPr lang="en-IN" sz="1400" dirty="0">
                <a:solidFill>
                  <a:srgbClr val="00B050"/>
                </a:solidFill>
              </a:rPr>
            </a:br>
            <a:r>
              <a:rPr lang="en-IN" sz="1400" dirty="0">
                <a:solidFill>
                  <a:srgbClr val="00B050"/>
                </a:solidFill>
              </a:rPr>
              <a:t>next</a:t>
            </a:r>
            <a:br>
              <a:rPr lang="en-IN" sz="1400" dirty="0">
                <a:solidFill>
                  <a:srgbClr val="00B050"/>
                </a:solidFill>
              </a:rPr>
            </a:br>
            <a:r>
              <a:rPr lang="en-IN" sz="1400" dirty="0">
                <a:solidFill>
                  <a:srgbClr val="00B050"/>
                </a:solidFill>
              </a:rPr>
              <a:t>↓</a:t>
            </a:r>
            <a:br>
              <a:rPr lang="en-IN" sz="1400" dirty="0">
                <a:solidFill>
                  <a:srgbClr val="00B050"/>
                </a:solidFill>
              </a:rPr>
            </a:br>
            <a:r>
              <a:rPr lang="en-IN" sz="1400" dirty="0">
                <a:solidFill>
                  <a:srgbClr val="00B050"/>
                </a:solidFill>
              </a:rPr>
              <a:t>Set up Mount Targets (Subnets, Security group {NFS-SG})</a:t>
            </a:r>
          </a:p>
          <a:p>
            <a:pPr marL="0" indent="0" algn="ctr">
              <a:buNone/>
            </a:pPr>
            <a:r>
              <a:rPr lang="en-IN" sz="1400" dirty="0">
                <a:solidFill>
                  <a:srgbClr val="00B050"/>
                </a:solidFill>
              </a:rPr>
              <a:t>Open the EFS file and click on attach then Copy the  mount point</a:t>
            </a:r>
            <a:br>
              <a:rPr lang="en-IN" sz="1400" dirty="0">
                <a:solidFill>
                  <a:srgbClr val="00B050"/>
                </a:solidFill>
              </a:rPr>
            </a:br>
            <a:r>
              <a:rPr lang="en-IN" sz="1400" dirty="0">
                <a:solidFill>
                  <a:srgbClr val="00B050"/>
                </a:solidFill>
              </a:rPr>
              <a:t>↓</a:t>
            </a:r>
            <a:br>
              <a:rPr lang="en-IN" sz="1400" dirty="0">
                <a:solidFill>
                  <a:srgbClr val="00B050"/>
                </a:solidFill>
              </a:rPr>
            </a:br>
            <a:r>
              <a:rPr lang="en-IN" sz="1400" dirty="0">
                <a:solidFill>
                  <a:srgbClr val="00B050"/>
                </a:solidFill>
              </a:rPr>
              <a:t>go to the instance create a directory(#mkdir </a:t>
            </a:r>
            <a:r>
              <a:rPr lang="en-IN" sz="1400" dirty="0" err="1">
                <a:solidFill>
                  <a:srgbClr val="00B050"/>
                </a:solidFill>
              </a:rPr>
              <a:t>efs</a:t>
            </a:r>
            <a:r>
              <a:rPr lang="en-IN" sz="1400" dirty="0">
                <a:solidFill>
                  <a:srgbClr val="00B050"/>
                </a:solidFill>
              </a:rPr>
              <a:t>)</a:t>
            </a:r>
          </a:p>
          <a:p>
            <a:pPr marL="0" indent="0" algn="ctr">
              <a:buNone/>
            </a:pPr>
            <a:r>
              <a:rPr lang="en-IN" sz="1400" dirty="0">
                <a:solidFill>
                  <a:srgbClr val="00B050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IN" sz="1400" dirty="0">
                <a:solidFill>
                  <a:srgbClr val="00B050"/>
                </a:solidFill>
              </a:rPr>
              <a:t># </a:t>
            </a:r>
            <a:r>
              <a:rPr lang="en-IN" sz="1400" dirty="0" err="1">
                <a:solidFill>
                  <a:srgbClr val="00B050"/>
                </a:solidFill>
              </a:rPr>
              <a:t>sudo</a:t>
            </a:r>
            <a:r>
              <a:rPr lang="en-IN" sz="1400" dirty="0">
                <a:solidFill>
                  <a:srgbClr val="00B050"/>
                </a:solidFill>
              </a:rPr>
              <a:t> mount -t </a:t>
            </a:r>
            <a:r>
              <a:rPr lang="en-IN" sz="1400" dirty="0" err="1">
                <a:solidFill>
                  <a:srgbClr val="00B050"/>
                </a:solidFill>
              </a:rPr>
              <a:t>efs</a:t>
            </a:r>
            <a:r>
              <a:rPr lang="en-IN" sz="1400" dirty="0">
                <a:solidFill>
                  <a:srgbClr val="00B050"/>
                </a:solidFill>
              </a:rPr>
              <a:t> -o </a:t>
            </a:r>
            <a:r>
              <a:rPr lang="en-IN" sz="1400" dirty="0" err="1">
                <a:solidFill>
                  <a:srgbClr val="00B050"/>
                </a:solidFill>
              </a:rPr>
              <a:t>tls</a:t>
            </a:r>
            <a:r>
              <a:rPr lang="en-IN" sz="1400" dirty="0">
                <a:solidFill>
                  <a:srgbClr val="00B050"/>
                </a:solidFill>
              </a:rPr>
              <a:t> fs-01d1a34449cbc3c43:/ /var/www/html</a:t>
            </a:r>
          </a:p>
          <a:p>
            <a:pPr marL="0" indent="0" algn="ctr">
              <a:buNone/>
            </a:pPr>
            <a:r>
              <a:rPr lang="en-IN" sz="1400" dirty="0">
                <a:solidFill>
                  <a:srgbClr val="00B050"/>
                </a:solidFill>
              </a:rPr>
              <a:t>Create a folder </a:t>
            </a:r>
            <a:r>
              <a:rPr lang="en-US" sz="1400" dirty="0">
                <a:solidFill>
                  <a:srgbClr val="00B050"/>
                </a:solidFill>
              </a:rPr>
              <a:t>in any one instances create the html file in the /var/www/html path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0B050"/>
                </a:solidFill>
              </a:rPr>
              <a:t>#cd /var/www/html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0B050"/>
                </a:solidFill>
              </a:rPr>
              <a:t>#cat &gt; index.html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0B050"/>
                </a:solidFill>
              </a:rPr>
              <a:t>“this is my first EFS web page” save it Copy the </a:t>
            </a:r>
            <a:r>
              <a:rPr lang="en-US" sz="1400" dirty="0" err="1">
                <a:solidFill>
                  <a:srgbClr val="00B050"/>
                </a:solidFill>
              </a:rPr>
              <a:t>ip</a:t>
            </a:r>
            <a:r>
              <a:rPr lang="en-US" sz="1400" dirty="0">
                <a:solidFill>
                  <a:srgbClr val="00B050"/>
                </a:solidFill>
              </a:rPr>
              <a:t> address and check </a:t>
            </a:r>
          </a:p>
          <a:p>
            <a:pPr marL="0" indent="0" algn="ctr">
              <a:buNone/>
            </a:pPr>
            <a:r>
              <a:rPr lang="en-IN" sz="1400" dirty="0">
                <a:solidFill>
                  <a:srgbClr val="00B050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0B050"/>
                </a:solidFill>
              </a:rPr>
              <a:t>Same way go to </a:t>
            </a:r>
            <a:r>
              <a:rPr lang="en-US" sz="1400" dirty="0" err="1">
                <a:solidFill>
                  <a:srgbClr val="00B050"/>
                </a:solidFill>
              </a:rPr>
              <a:t>onother</a:t>
            </a:r>
            <a:r>
              <a:rPr lang="en-US" sz="1400" dirty="0">
                <a:solidFill>
                  <a:srgbClr val="00B050"/>
                </a:solidFill>
              </a:rPr>
              <a:t> instance create a directory and mount it by using</a:t>
            </a:r>
          </a:p>
          <a:p>
            <a:pPr marL="0" indent="0" algn="ctr">
              <a:buNone/>
            </a:pPr>
            <a:endParaRPr lang="en-IN" sz="1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IN" sz="1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br>
              <a:rPr lang="en-IN" sz="1400" dirty="0">
                <a:solidFill>
                  <a:srgbClr val="00B050"/>
                </a:solidFill>
              </a:rPr>
            </a:br>
            <a:endParaRPr lang="en-IN" sz="1400" dirty="0">
              <a:solidFill>
                <a:srgbClr val="00B05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3C97D9-0FE2-6976-7410-1CE5B7C59968}"/>
              </a:ext>
            </a:extLst>
          </p:cNvPr>
          <p:cNvCxnSpPr>
            <a:cxnSpLocks/>
          </p:cNvCxnSpPr>
          <p:nvPr/>
        </p:nvCxnSpPr>
        <p:spPr>
          <a:xfrm>
            <a:off x="7323720" y="2857766"/>
            <a:ext cx="3657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790CA9C-F0F9-408B-8C22-6133DBD05E0E}"/>
              </a:ext>
            </a:extLst>
          </p:cNvPr>
          <p:cNvCxnSpPr>
            <a:cxnSpLocks/>
          </p:cNvCxnSpPr>
          <p:nvPr/>
        </p:nvCxnSpPr>
        <p:spPr>
          <a:xfrm>
            <a:off x="7696200" y="2857766"/>
            <a:ext cx="0" cy="1891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C46A601-1903-2EE8-8462-73D3D0501BAA}"/>
              </a:ext>
            </a:extLst>
          </p:cNvPr>
          <p:cNvCxnSpPr>
            <a:cxnSpLocks/>
          </p:cNvCxnSpPr>
          <p:nvPr/>
        </p:nvCxnSpPr>
        <p:spPr>
          <a:xfrm flipH="1">
            <a:off x="7231380" y="4748981"/>
            <a:ext cx="4343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1B2D4B-3AF7-C522-DDD9-B1841D6D8B16}"/>
              </a:ext>
            </a:extLst>
          </p:cNvPr>
          <p:cNvGrpSpPr/>
          <p:nvPr/>
        </p:nvGrpSpPr>
        <p:grpSpPr>
          <a:xfrm>
            <a:off x="7254240" y="2755526"/>
            <a:ext cx="138960" cy="218520"/>
            <a:chOff x="6583740" y="3238320"/>
            <a:chExt cx="13896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E98EC6D-323A-1F52-B860-8EA556B89E0A}"/>
                    </a:ext>
                  </a:extLst>
                </p14:cNvPr>
                <p14:cNvContentPartPr/>
                <p14:nvPr/>
              </p14:nvContentPartPr>
              <p14:xfrm>
                <a:off x="6583740" y="3238320"/>
                <a:ext cx="91440" cy="102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E98EC6D-323A-1F52-B860-8EA556B89E0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66100" y="3220320"/>
                  <a:ext cx="1270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BDED023-F72E-BE69-5C59-637216732984}"/>
                    </a:ext>
                  </a:extLst>
                </p14:cNvPr>
                <p14:cNvContentPartPr/>
                <p14:nvPr/>
              </p14:nvContentPartPr>
              <p14:xfrm>
                <a:off x="6583740" y="3360360"/>
                <a:ext cx="138960" cy="96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BDED023-F72E-BE69-5C59-6372167329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5740" y="3342360"/>
                  <a:ext cx="174600" cy="132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7" name="Right Brace 26">
            <a:extLst>
              <a:ext uri="{FF2B5EF4-FFF2-40B4-BE49-F238E27FC236}">
                <a16:creationId xmlns:a16="http://schemas.microsoft.com/office/drawing/2014/main" id="{662ECFC5-BB61-89EA-0CA6-3ACABDAE11A4}"/>
              </a:ext>
            </a:extLst>
          </p:cNvPr>
          <p:cNvSpPr/>
          <p:nvPr/>
        </p:nvSpPr>
        <p:spPr>
          <a:xfrm>
            <a:off x="6911340" y="2649188"/>
            <a:ext cx="320040" cy="527685"/>
          </a:xfrm>
          <a:prstGeom prst="rightBrace">
            <a:avLst>
              <a:gd name="adj1" fmla="val 48757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79A1F7D-4D43-65F5-7193-D34EB8F6BE78}"/>
              </a:ext>
            </a:extLst>
          </p:cNvPr>
          <p:cNvCxnSpPr/>
          <p:nvPr/>
        </p:nvCxnSpPr>
        <p:spPr>
          <a:xfrm>
            <a:off x="6385560" y="2649188"/>
            <a:ext cx="525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2267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1A819-0DF0-FF6E-4106-E3AE42294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45806"/>
            <a:ext cx="7772400" cy="59362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900" u="sng" dirty="0">
                <a:solidFill>
                  <a:schemeClr val="accent1"/>
                </a:solidFill>
              </a:rPr>
              <a:t>CASE STUDIES OF EFS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Media &amp; Content Processing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Problem: A media company processes large video files across multiple servers.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Store videos in EFS and allow all processing servers to access them.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How it works: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Upload video → stored in EFS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Multiple servers process different parts simultaneously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Result: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Faster processing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High throughput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No need to copy files between servers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5282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420760"/>
          </a:xfrm>
        </p:spPr>
        <p:txBody>
          <a:bodyPr/>
          <a:lstStyle/>
          <a:p>
            <a:r>
              <a:rPr dirty="0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14F140-6BB5-CE67-6156-72AAD5D2C0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133" y="1994307"/>
            <a:ext cx="7247467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EFS is a fully managed and scalable file storage service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It allows multiple systems to access data at the same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Provides high availability, durability, and security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Best suited for shared storage, web applications, and large data workloads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Easy to use with no infrastructure management required 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201</TotalTime>
  <Words>1100</Words>
  <Application>Microsoft Office PowerPoint</Application>
  <PresentationFormat>On-screen Show (4:3)</PresentationFormat>
  <Paragraphs>123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Arial</vt:lpstr>
      <vt:lpstr>Arial Narrow</vt:lpstr>
      <vt:lpstr>Rockwell</vt:lpstr>
      <vt:lpstr>Rockwell Condensed</vt:lpstr>
      <vt:lpstr>Wingdings</vt:lpstr>
      <vt:lpstr>Wood Type</vt:lpstr>
      <vt:lpstr>AWS Elastic File System(EFS)</vt:lpstr>
      <vt:lpstr>What is AWS EFS?</vt:lpstr>
      <vt:lpstr>Key Features of EFS</vt:lpstr>
      <vt:lpstr>How EFS Works</vt:lpstr>
      <vt:lpstr>Use Cases of EFS</vt:lpstr>
      <vt:lpstr>Advantages of EFS</vt:lpstr>
      <vt:lpstr>Disadvantages of EFS</vt:lpstr>
      <vt:lpstr>Security</vt:lpstr>
      <vt:lpstr>PowerPoint Presentation</vt:lpstr>
      <vt:lpstr>PowerPoint Presentation</vt:lpstr>
      <vt:lpstr>How to perform efs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pradeep</dc:creator>
  <cp:keywords/>
  <dc:description>generated using python-pptx</dc:description>
  <cp:lastModifiedBy>pradeep p</cp:lastModifiedBy>
  <cp:revision>10</cp:revision>
  <dcterms:created xsi:type="dcterms:W3CDTF">2013-01-27T09:14:16Z</dcterms:created>
  <dcterms:modified xsi:type="dcterms:W3CDTF">2026-03-25T03:57:13Z</dcterms:modified>
  <cp:category/>
</cp:coreProperties>
</file>